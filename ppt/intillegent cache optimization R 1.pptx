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BD28E5-E8B0-44AD-AD1A-6D9F63D7B5AC}">
  <a:tblStyle styleId="{54BD28E5-E8B0-44AD-AD1A-6D9F63D7B5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486" y="-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icture with Caption">
  <p:cSld name="1_Picture with Caption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2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sz="2800" b="1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1"/>
          </p:nvPr>
        </p:nvSpPr>
        <p:spPr>
          <a:xfrm rot="5400000">
            <a:off x="3781990" y="-1912962"/>
            <a:ext cx="4795008" cy="110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Picture with Caption">
  <p:cSld name="2_Picture with Ca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173803" y="469835"/>
            <a:ext cx="11672300" cy="650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Char char="•"/>
              <a:defRPr sz="3200" b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" y="5337544"/>
            <a:ext cx="12191994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000" b="1" i="1" u="none" strike="noStrike" cap="non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1" descr="LTIMindtree logo in transparent PNG and vectorized SVG formats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545387" y="6562429"/>
            <a:ext cx="1541059" cy="29557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>
            <a:spLocks noGrp="1"/>
          </p:cNvSpPr>
          <p:nvPr>
            <p:ph type="body" idx="1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64" name="Google Shape;64;p15"/>
          <p:cNvSpPr/>
          <p:nvPr/>
        </p:nvSpPr>
        <p:spPr>
          <a:xfrm>
            <a:off x="4125951" y="1177578"/>
            <a:ext cx="3324160" cy="261472"/>
          </a:xfrm>
          <a:prstGeom prst="roundRect">
            <a:avLst>
              <a:gd name="adj" fmla="val 16667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Jointly offered by University and LTIMindTree</a:t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180236" y="1659822"/>
            <a:ext cx="11428184" cy="387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GB" sz="36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 S SHAH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 CHENNAI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5400" b="1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>
            <p:extLst>
              <p:ext uri="{D42A27DB-BD31-4B8C-83A1-F6EECF244321}">
                <p14:modId xmlns:p14="http://schemas.microsoft.com/office/powerpoint/2010/main" val="2888250337"/>
              </p:ext>
            </p:extLst>
          </p:nvPr>
        </p:nvGraphicFramePr>
        <p:xfrm>
          <a:off x="-47290" y="5501244"/>
          <a:ext cx="12239200" cy="3264845"/>
        </p:xfrm>
        <a:graphic>
          <a:graphicData uri="http://schemas.openxmlformats.org/drawingml/2006/table">
            <a:tbl>
              <a:tblPr firstRow="1" bandRow="1">
                <a:noFill/>
                <a:tableStyleId>{54BD28E5-E8B0-44AD-AD1A-6D9F63D7B5AC}</a:tableStyleId>
              </a:tblPr>
              <a:tblGrid>
                <a:gridCol w="61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strike="noStrike" cap="none" dirty="0">
                        <a:solidFill>
                          <a:schemeClr val="lt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Implementation partner</a:t>
                      </a:r>
                      <a:endParaRPr sz="180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68;p15" descr="Press Release Distribution India | Business Wire India">
            <a:extLst>
              <a:ext uri="{FF2B5EF4-FFF2-40B4-BE49-F238E27FC236}">
                <a16:creationId xmlns:a16="http://schemas.microsoft.com/office/drawing/2014/main" id="{713F6FDF-9CB2-738D-3EB0-3F2F2C604C4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50" y="5852675"/>
            <a:ext cx="3221325" cy="8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221274" y="1069062"/>
            <a:ext cx="11212104" cy="552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Repeated LLM queries cause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cost, latency, and token wastage</a:t>
            </a:r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Scalability challenges due to growing API usage and rate limits</a:t>
            </a:r>
          </a:p>
          <a:p>
            <a:pPr fontAlgn="t">
              <a:lnSpc>
                <a:spcPct val="100000"/>
              </a:lnSpc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Solution: Intelligent Caching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Exact Match Cache :  Redis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Similarity Cache : </a:t>
            </a:r>
            <a:r>
              <a:rPr lang="en-IN" b="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Pgvector</a:t>
            </a:r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Context-Aware Retrieval : Agent/Tool support.</a:t>
            </a:r>
          </a:p>
          <a:p>
            <a:pPr lvl="0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 Policy Engine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Cost/Frequency/Recency based eviction/caching.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dirty="0"/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6" name="Google Shape;76;p16"/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lang="en-GB"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255996" y="1225094"/>
            <a:ext cx="11497854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Tiered Cache Middleware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Multi-stage interceptor for LLM/Agent calls.</a:t>
            </a:r>
          </a:p>
          <a:p>
            <a:pPr lvl="0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Intelligent Storage Layer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IN" sz="280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Exact:</a:t>
            </a:r>
            <a:r>
              <a:rPr lang="en-IN" sz="2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Redis for deterministic lookups (low latency).</a:t>
            </a:r>
          </a:p>
          <a:p>
            <a:pPr lvl="1"/>
            <a:r>
              <a:rPr lang="en-IN" sz="280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Semantic:</a:t>
            </a:r>
            <a:r>
              <a:rPr lang="en-IN" sz="2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80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Pgvector</a:t>
            </a:r>
            <a:r>
              <a:rPr lang="en-IN" sz="280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context/meaning matches (prevents redundant compute).</a:t>
            </a:r>
          </a:p>
          <a:p>
            <a:pPr lvl="0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Policy-Driven Optimization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Intelligent scorer evaluates </a:t>
            </a:r>
            <a:r>
              <a:rPr lang="en-IN" b="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result worth caching (balances cost vs. memory).</a:t>
            </a:r>
          </a:p>
          <a:p>
            <a:pPr lvl="0"/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Observability Suite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IN" b="0" dirty="0" err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dashboard tracking live hit-rates, latency, and cost savings.</a:t>
            </a:r>
          </a:p>
          <a:p>
            <a:pPr marL="50800" indent="0">
              <a:buNone/>
            </a:pPr>
            <a:b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dirty="0"/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4" name="Google Shape;84;p17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lang="en-GB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1669304" cy="5084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</a:rPr>
              <a:t>Support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exact-match and semantic similarity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</a:rPr>
              <a:t> based cache retrieval.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</a:rPr>
              <a:t>Reduce </a:t>
            </a: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LLM inference calls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</a:rPr>
              <a:t>, latency, and API costs.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</a:rPr>
              <a:t>Reuse deterministic outputs from tools and agent workflows.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</a:rPr>
              <a:t>Implement context-aware cache invalidation and update policies.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</a:rPr>
              <a:t>Measure performance using: 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Cache Hit Rate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Response Time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Token Savings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Cost Reduction</a:t>
            </a:r>
          </a:p>
          <a:p>
            <a:pPr marL="742950" lvl="1" indent="-285750" fontAlgn="t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accent1">
                    <a:lumMod val="50000"/>
                  </a:schemeClr>
                </a:solidFill>
              </a:rPr>
              <a:t>Response Accuracy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endParaRPr sz="2400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 dirty="0"/>
          </a:p>
        </p:txBody>
      </p:sp>
      <p:cxnSp>
        <p:nvCxnSpPr>
          <p:cNvPr id="91" name="Google Shape;91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2" name="Google Shape;92;p18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lang="en-GB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dirty="0"/>
          </a:p>
        </p:txBody>
      </p:sp>
      <p:cxnSp>
        <p:nvCxnSpPr>
          <p:cNvPr id="99" name="Google Shape;99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0" name="Google Shape;100;p19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lang="en-GB" sz="1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99535-3DA0-DA7B-96BE-90D168C5F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085" y="1531938"/>
            <a:ext cx="7574915" cy="42338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321588-C893-6542-E27C-9B92A7E9D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274" y="1761892"/>
            <a:ext cx="4420217" cy="3334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1612154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t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 from Literature</a:t>
            </a:r>
          </a:p>
          <a:p>
            <a:pPr fontAlgn="t"/>
            <a: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Semantic caching significantly reduces repeated LLM calls and inference cost. </a:t>
            </a:r>
          </a:p>
          <a:p>
            <a:pPr fontAlgn="t"/>
            <a: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Sentence embeddings (SBERT) enable accurate matching of paraphrased queries. </a:t>
            </a:r>
          </a:p>
          <a:p>
            <a:pPr fontAlgn="t"/>
            <a: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Context-aware caching improves performance in multi-turn conversations.</a:t>
            </a:r>
          </a:p>
          <a:p>
            <a:pPr fontAlgn="t"/>
            <a: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Existing approaches mainly focus on a single caching strategy (Exact or Semantic). </a:t>
            </a:r>
          </a:p>
          <a:p>
            <a:pPr fontAlgn="t"/>
            <a:r>
              <a:rPr lang="en-IN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systems lack explainable cache decisions and intelligent cache policies. </a:t>
            </a:r>
          </a:p>
        </p:txBody>
      </p:sp>
      <p:sp>
        <p:nvSpPr>
          <p:cNvPr id="106" name="Google Shape;106;p20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 dirty="0"/>
          </a:p>
        </p:txBody>
      </p:sp>
      <p:cxnSp>
        <p:nvCxnSpPr>
          <p:cNvPr id="107" name="Google Shape;107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8" name="Google Shape;108;p20"/>
          <p:cNvSpPr txBox="1"/>
          <p:nvPr/>
        </p:nvSpPr>
        <p:spPr>
          <a:xfrm>
            <a:off x="6093893" y="57036"/>
            <a:ext cx="609810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lang="en-GB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 dirty="0"/>
          </a:p>
        </p:txBody>
      </p:sp>
      <p:cxnSp>
        <p:nvCxnSpPr>
          <p:cNvPr id="115" name="Google Shape;115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6" name="Google Shape;116;p21"/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r">
              <a:buClr>
                <a:srgbClr val="FFFFFF"/>
              </a:buClr>
              <a:buSzPts val="3600"/>
            </a:pPr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lang="en-GB"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045CA0-F78E-669F-CD4E-FD355C49D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736" y="1429947"/>
            <a:ext cx="8424314" cy="50545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142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Application Layer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IN" b="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Management</a:t>
            </a:r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Cache Implementation Layer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IN" b="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Cache Operations</a:t>
            </a:r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 Layer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IN" b="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Decision Engine</a:t>
            </a:r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Provider Layer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IN" b="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Connectors</a:t>
            </a:r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Supporting Components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IN" b="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Utility Services</a:t>
            </a:r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&amp; Monitoring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IN" b="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Monitoring</a:t>
            </a:r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Benchmarking Framework</a:t>
            </a: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</a:t>
            </a:r>
            <a:r>
              <a:rPr lang="en-IN" b="0" i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Analysis</a:t>
            </a:r>
            <a:endParaRPr lang="en-IN" b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800"/>
              <a:buNone/>
            </a:pPr>
            <a:endParaRPr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 dirty="0"/>
          </a:p>
        </p:txBody>
      </p:sp>
      <p:cxnSp>
        <p:nvCxnSpPr>
          <p:cNvPr id="123" name="Google Shape;123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4" name="Google Shape;124;p22"/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lang="en-GB"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fontAlgn="t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/ Query Generation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 a custom workload of user queries.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Included exact, paraphrased, contextual, and repeated queries.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Simulated real AI agent interaction patterns.</a:t>
            </a:r>
          </a:p>
          <a:p>
            <a:pPr fontAlgn="t">
              <a:buNone/>
            </a:pPr>
            <a:r>
              <a:rPr lang="en-IN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Cache Validation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Tested Exact Cache for identical queries.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Tested Semantic Cache for similar/paraphrased queries.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Tested Context Cache for multi-turn conversations.</a:t>
            </a:r>
          </a:p>
          <a:p>
            <a:pPr marL="342900" lvl="0" indent="-342900" fontAlgn="t">
              <a:buFont typeface="Arial" panose="020B0604020202020204" pitchFamily="34" charset="0"/>
              <a:buChar char="•"/>
            </a:pPr>
            <a:r>
              <a:rPr lang="en-IN" b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Tested Tool Cache for deterministic tool outputs.</a:t>
            </a:r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 name –Cache Manager</a:t>
            </a:r>
            <a:endParaRPr sz="3600" b="1" i="0" u="none" strike="noStrike" cap="none" dirty="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w="28575" cap="flat" cmpd="sng">
            <a:solidFill>
              <a:schemeClr val="accent6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2" name="Google Shape;132;p23"/>
          <p:cNvSpPr txBox="1"/>
          <p:nvPr/>
        </p:nvSpPr>
        <p:spPr>
          <a:xfrm>
            <a:off x="6093893" y="57036"/>
            <a:ext cx="6098107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r"/>
            <a:r>
              <a:rPr lang="en-GB" sz="18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Intelligent Cache Optimization for AI Agents</a:t>
            </a:r>
            <a:endParaRPr lang="en-GB"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441</Words>
  <Application>Microsoft Office PowerPoint</Application>
  <PresentationFormat>Widescreen</PresentationFormat>
  <Paragraphs>76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 S Shah</cp:lastModifiedBy>
  <cp:revision>4</cp:revision>
  <dcterms:modified xsi:type="dcterms:W3CDTF">2026-09-11T10:13:47Z</dcterms:modified>
</cp:coreProperties>
</file>