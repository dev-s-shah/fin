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E54690-1467-4D2D-B31F-E7DAC9D82627}">
  <a:tblStyle styleId="{A1E54690-1467-4D2D-B31F-E7DAC9D826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8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 rot="5400000">
            <a:off x="3781990" y="-1912962"/>
            <a:ext cx="4795008" cy="110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icture with Caption">
  <p:cSld name="2_Picture with 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173803" y="469835"/>
            <a:ext cx="11672300" cy="65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sz="3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" y="5337544"/>
            <a:ext cx="12191994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 descr="LTIMindtree logo in transparent PNG and vectorized SVG formats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545387" y="6562429"/>
            <a:ext cx="1541059" cy="29557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1401?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404.16130?" TargetMode="External"/><Relationship Id="rId5" Type="http://schemas.openxmlformats.org/officeDocument/2006/relationships/hyperlink" Target="https://aclanthology.org/2021.acl-long.254/?" TargetMode="External"/><Relationship Id="rId4" Type="http://schemas.openxmlformats.org/officeDocument/2006/relationships/hyperlink" Target="https://aclanthology.org/2021.emnlp-main.300/?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5"/>
            <a:ext cx="3483000" cy="2859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</a:t>
            </a:r>
            <a:r>
              <a:rPr lang="en-US" sz="1200">
                <a:solidFill>
                  <a:srgbClr val="595959"/>
                </a:solidFill>
              </a:rPr>
              <a:t>LTI MindTree</a:t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38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 S SHAH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 CHENNAI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  <a:tableStyleId>{A1E54690-1467-4D2D-B31F-E7DAC9D82627}</a:tableStyleId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                                                        Implementation Partner</a:t>
                      </a:r>
                      <a:r>
                        <a:rPr lang="en-US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ress Release Distribution India | Business Wire Indi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0" y="5852675"/>
            <a:ext cx="3221325" cy="8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cxnSp>
        <p:nvCxnSpPr>
          <p:cNvPr id="74" name="Google Shape;74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5" name="Google Shape;75;p16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</p:txBody>
      </p:sp>
      <p:sp>
        <p:nvSpPr>
          <p:cNvPr id="76" name="Google Shape;76;p16"/>
          <p:cNvSpPr/>
          <p:nvPr/>
        </p:nvSpPr>
        <p:spPr>
          <a:xfrm rot="10800000">
            <a:off x="220300" y="1424025"/>
            <a:ext cx="6270300" cy="4909800"/>
          </a:xfrm>
          <a:prstGeom prst="round1Rect">
            <a:avLst>
              <a:gd name="adj" fmla="val 34598"/>
            </a:avLst>
          </a:prstGeom>
          <a:solidFill>
            <a:srgbClr val="EA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13450" y="1432325"/>
            <a:ext cx="5772900" cy="53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2800" b="1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Annual reports = </a:t>
            </a: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Tables + Text + Strategy + Risk</a:t>
            </a:r>
            <a:endParaRPr sz="2800" b="1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Financial information is </a:t>
            </a: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distributed across pages</a:t>
            </a:r>
            <a:endParaRPr sz="2800" b="1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Traditional search finds </a:t>
            </a: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r>
              <a:rPr lang="en-US" sz="280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not relationships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LLMs may generate </a:t>
            </a: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unsupported answers</a:t>
            </a:r>
            <a:endParaRPr sz="2800" b="1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669250" y="1423925"/>
            <a:ext cx="5269500" cy="4909800"/>
          </a:xfrm>
          <a:prstGeom prst="round1Rect">
            <a:avLst>
              <a:gd name="adj" fmla="val 16667"/>
            </a:avLst>
          </a:prstGeom>
          <a:solidFill>
            <a:srgbClr val="E8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AF3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6920950" y="1552200"/>
            <a:ext cx="5017800" cy="48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Proposed Idea</a:t>
            </a:r>
            <a:endParaRPr sz="2800" b="1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Financial Fact Extraction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Entity &amp; Relationship Extraction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b="1">
                <a:solidFill>
                  <a:srgbClr val="168C87"/>
                </a:solidFill>
                <a:latin typeface="Calibri"/>
                <a:ea typeface="Calibri"/>
                <a:cs typeface="Calibri"/>
                <a:sym typeface="Calibri"/>
              </a:rPr>
              <a:t>Neo4j Knowledge Graph</a:t>
            </a:r>
            <a:endParaRPr sz="2800" b="1">
              <a:solidFill>
                <a:srgbClr val="168C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Multi-Hop Graph Retrieval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b="1">
                <a:solidFill>
                  <a:srgbClr val="168C87"/>
                </a:solidFill>
                <a:latin typeface="Calibri"/>
                <a:ea typeface="Calibri"/>
                <a:cs typeface="Calibri"/>
                <a:sym typeface="Calibri"/>
              </a:rPr>
              <a:t>Ollama + Local Model</a:t>
            </a:r>
            <a:endParaRPr sz="2800" b="1">
              <a:solidFill>
                <a:srgbClr val="168C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Source/Page Grounding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6" name="Google Shape;86;p17"/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 rot="10800000">
            <a:off x="244700" y="1378025"/>
            <a:ext cx="11670900" cy="4953300"/>
          </a:xfrm>
          <a:prstGeom prst="round1Rect">
            <a:avLst>
              <a:gd name="adj" fmla="val 36915"/>
            </a:avLst>
          </a:prstGeom>
          <a:solidFill>
            <a:srgbClr val="F4F7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50750" y="1525100"/>
            <a:ext cx="11196900" cy="4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Extract </a:t>
            </a:r>
            <a:r>
              <a:rPr lang="en-US" sz="2800" b="1">
                <a:solidFill>
                  <a:srgbClr val="174A78"/>
                </a:solidFill>
              </a:rPr>
              <a:t>financial facts</a:t>
            </a:r>
            <a:endParaRPr sz="2800" b="1">
              <a:solidFill>
                <a:srgbClr val="174A78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Identify </a:t>
            </a:r>
            <a:r>
              <a:rPr lang="en-US" sz="2800" b="1">
                <a:solidFill>
                  <a:srgbClr val="168DB5"/>
                </a:solidFill>
              </a:rPr>
              <a:t>business entities</a:t>
            </a:r>
            <a:endParaRPr sz="2800" b="1">
              <a:solidFill>
                <a:srgbClr val="168DB5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Discover </a:t>
            </a:r>
            <a:r>
              <a:rPr lang="en-US" sz="2800" b="1">
                <a:solidFill>
                  <a:srgbClr val="159FC1"/>
                </a:solidFill>
              </a:rPr>
              <a:t>semantic relationships</a:t>
            </a:r>
            <a:endParaRPr sz="2800" b="1">
              <a:solidFill>
                <a:srgbClr val="159FC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Build a </a:t>
            </a:r>
            <a:r>
              <a:rPr lang="en-US" sz="2800" b="1">
                <a:solidFill>
                  <a:srgbClr val="19A7A0"/>
                </a:solidFill>
              </a:rPr>
              <a:t>Neo4j financial knowledge graph</a:t>
            </a:r>
            <a:endParaRPr sz="2800" b="1">
              <a:solidFill>
                <a:srgbClr val="19A7A0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Perform </a:t>
            </a:r>
            <a:r>
              <a:rPr lang="en-US" sz="2800" b="1">
                <a:solidFill>
                  <a:srgbClr val="0F8F82"/>
                </a:solidFill>
              </a:rPr>
              <a:t>multi-hop reasoning</a:t>
            </a:r>
            <a:endParaRPr sz="2800" b="1">
              <a:solidFill>
                <a:srgbClr val="0F8F82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Retrieve </a:t>
            </a:r>
            <a:r>
              <a:rPr lang="en-US" sz="2800" b="1">
                <a:solidFill>
                  <a:srgbClr val="35A853"/>
                </a:solidFill>
              </a:rPr>
              <a:t>source/page evidence</a:t>
            </a:r>
            <a:endParaRPr sz="2800" b="1">
              <a:solidFill>
                <a:srgbClr val="35A853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Generate answers using</a:t>
            </a:r>
            <a:r>
              <a:rPr lang="en-US" sz="2800">
                <a:solidFill>
                  <a:srgbClr val="54B948"/>
                </a:solidFill>
              </a:rPr>
              <a:t> </a:t>
            </a:r>
            <a:r>
              <a:rPr lang="en-US" sz="2800" b="1">
                <a:solidFill>
                  <a:srgbClr val="54B948"/>
                </a:solidFill>
              </a:rPr>
              <a:t>local model</a:t>
            </a:r>
            <a:endParaRPr sz="2800" b="1">
              <a:solidFill>
                <a:srgbClr val="54B948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Minimize </a:t>
            </a:r>
            <a:r>
              <a:rPr lang="en-US" sz="2800" b="1">
                <a:solidFill>
                  <a:srgbClr val="8BCF35"/>
                </a:solidFill>
              </a:rPr>
              <a:t>hallucination</a:t>
            </a:r>
            <a:endParaRPr sz="2800" b="1">
              <a:solidFill>
                <a:srgbClr val="8BCF3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/>
          </a:p>
        </p:txBody>
      </p:sp>
      <p:cxnSp>
        <p:nvCxnSpPr>
          <p:cNvPr id="94" name="Google Shape;94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5" name="Google Shape;95;p18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</p:txBody>
      </p:sp>
      <p:sp>
        <p:nvSpPr>
          <p:cNvPr id="96" name="Google Shape;96;p18"/>
          <p:cNvSpPr/>
          <p:nvPr/>
        </p:nvSpPr>
        <p:spPr>
          <a:xfrm rot="10800000">
            <a:off x="256150" y="1400675"/>
            <a:ext cx="3367500" cy="4968000"/>
          </a:xfrm>
          <a:prstGeom prst="round1Rect">
            <a:avLst>
              <a:gd name="adj" fmla="val 50000"/>
            </a:avLst>
          </a:prstGeom>
          <a:solidFill>
            <a:srgbClr val="EA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8607400" y="1400675"/>
            <a:ext cx="3367200" cy="4968000"/>
          </a:xfrm>
          <a:prstGeom prst="round1Rect">
            <a:avLst>
              <a:gd name="adj" fmla="val 50000"/>
            </a:avLst>
          </a:prstGeom>
          <a:solidFill>
            <a:srgbClr val="F0F7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3866025" y="1400725"/>
            <a:ext cx="4443900" cy="496800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34825" y="1400725"/>
            <a:ext cx="2981700" cy="52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2800" b="1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LTM Annual Reports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Financial Statements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Management Discussion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Strategy &amp; Risk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Business Information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999313" y="1388925"/>
            <a:ext cx="42324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sz="2800" b="1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PDF Parsing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Normalization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Fact, Entity Extraction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Relationship Extraction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endParaRPr sz="2800" b="1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Financial Metrics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Financial Values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Reporting Periods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Source Pages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8759425" y="1400725"/>
            <a:ext cx="2981700" cy="4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rgbClr val="238B45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2800" b="1">
              <a:solidFill>
                <a:srgbClr val="238B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Financial Answers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Multi-Hop Reasoning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Graph Evidence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Page-Level Provenance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cxnSp>
        <p:nvCxnSpPr>
          <p:cNvPr id="107" name="Google Shape;107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8" name="Google Shape;108;p19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</p:txBody>
      </p:sp>
      <p:graphicFrame>
        <p:nvGraphicFramePr>
          <p:cNvPr id="109" name="Google Shape;109;p19"/>
          <p:cNvGraphicFramePr/>
          <p:nvPr/>
        </p:nvGraphicFramePr>
        <p:xfrm>
          <a:off x="179825" y="1333150"/>
          <a:ext cx="11832325" cy="4617725"/>
        </p:xfrm>
        <a:graphic>
          <a:graphicData uri="http://schemas.openxmlformats.org/drawingml/2006/table">
            <a:tbl>
              <a:tblPr>
                <a:noFill/>
                <a:tableStyleId>{A1E54690-1467-4D2D-B31F-E7DAC9D82627}</a:tableStyleId>
              </a:tblPr>
              <a:tblGrid>
                <a:gridCol w="569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</a:t>
                      </a:r>
                      <a:endParaRPr sz="2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Contribution</a:t>
                      </a:r>
                      <a:endParaRPr sz="2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Lewis et al. (2020) — RAG</a:t>
                      </a:r>
                      <a:endParaRPr sz="2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External knowledge retrieval + LLM generation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Reimers &amp; Gurevych (2019) — SBERT</a:t>
                      </a:r>
                      <a:endParaRPr sz="2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 embeddings for similarity search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Chen et al. (2021) — FinQA</a:t>
                      </a:r>
                      <a:endParaRPr sz="2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Numerical reasoning over financial reports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Zhu et al. (2021) — TAT-QA</a:t>
                      </a:r>
                      <a:endParaRPr sz="2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answering over financial text + tables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Edge et al. (2024) — GraphRAG</a:t>
                      </a:r>
                      <a:endParaRPr sz="2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Knowledge graphs + multi-hop/global reasoning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/>
          </a:p>
        </p:txBody>
      </p:sp>
      <p:cxnSp>
        <p:nvCxnSpPr>
          <p:cNvPr id="115" name="Google Shape;115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6" name="Google Shape;116;p20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</p:txBody>
      </p:sp>
      <p:sp>
        <p:nvSpPr>
          <p:cNvPr id="117" name="Google Shape;117;p20"/>
          <p:cNvSpPr txBox="1"/>
          <p:nvPr/>
        </p:nvSpPr>
        <p:spPr>
          <a:xfrm>
            <a:off x="219450" y="1234450"/>
            <a:ext cx="11753100" cy="29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External knowledge + LLM generation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SBERT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Semantic similarity-based retrieval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FinQA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Financial numerical reasoning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TAT-QA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Text + table reasoning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GraphRAG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Multi-hop relationship reasoning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256000" y="4158850"/>
            <a:ext cx="115581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Limited integration of financial facts, graph relationships, document context, and source provenance.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/>
          </a:p>
        </p:txBody>
      </p:sp>
      <p:cxnSp>
        <p:nvCxnSpPr>
          <p:cNvPr id="124" name="Google Shape;124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5" name="Google Shape;125;p21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</p:txBody>
      </p:sp>
      <p:sp>
        <p:nvSpPr>
          <p:cNvPr id="126" name="Google Shape;126;p21"/>
          <p:cNvSpPr/>
          <p:nvPr/>
        </p:nvSpPr>
        <p:spPr>
          <a:xfrm>
            <a:off x="256000" y="1366500"/>
            <a:ext cx="11716200" cy="64620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6403725" y="2095500"/>
            <a:ext cx="5568600" cy="424950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 rot="10800000">
            <a:off x="263850" y="2095575"/>
            <a:ext cx="5876100" cy="4264200"/>
          </a:xfrm>
          <a:prstGeom prst="round1Rect">
            <a:avLst>
              <a:gd name="adj" fmla="val 42609"/>
            </a:avLst>
          </a:prstGeom>
          <a:solidFill>
            <a:srgbClr val="F4F7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81000" y="1381800"/>
            <a:ext cx="8792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How does cost optimization relate to EBITDA margin?</a:t>
            </a:r>
            <a:endParaRPr sz="2800" b="1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4112" y="2262376"/>
            <a:ext cx="2915563" cy="393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6645525" y="2108175"/>
            <a:ext cx="5085000" cy="42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Key Advantages</a:t>
            </a:r>
            <a:endParaRPr sz="2800" b="1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9A7A0"/>
              </a:buClr>
              <a:buSzPts val="2800"/>
              <a:buChar char="●"/>
            </a:pP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Relationship-Aware</a:t>
            </a: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Retrieval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Char char="●"/>
            </a:pP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Multi-Hop</a:t>
            </a: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Reasoning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Char char="●"/>
            </a:pP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Financial Fact</a:t>
            </a: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Retrieval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Char char="●"/>
            </a:pP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Source/Page</a:t>
            </a: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Traceability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Char char="●"/>
            </a:pP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Local LLM</a:t>
            </a: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Inference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Reduced Hallucination</a:t>
            </a:r>
            <a:endParaRPr sz="2800" b="1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Char char="●"/>
            </a:pPr>
            <a:r>
              <a:rPr lang="en-US" sz="2800" b="1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Explainable</a:t>
            </a:r>
            <a:r>
              <a:rPr lang="en-US" sz="280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Answers</a:t>
            </a:r>
            <a:endParaRPr sz="280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body" idx="1"/>
          </p:nvPr>
        </p:nvSpPr>
        <p:spPr>
          <a:xfrm>
            <a:off x="900573" y="1357505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Ingestion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PDF data extraction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Graph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Entity relationship mapping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 Database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Semantic search storage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Retrieval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Graph + vector retrieval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 Generation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LLM-powered insights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Multi-Year Analysis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Fiscal trend tracking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Module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Accuracy assessment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Interface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Interactive dashboard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Deployment &amp; orchestration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800"/>
              <a:buNone/>
            </a:pPr>
            <a:endParaRPr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cover…. Calibri body -36</a:t>
            </a:r>
            <a:endParaRPr/>
          </a:p>
        </p:txBody>
      </p:sp>
      <p:cxnSp>
        <p:nvCxnSpPr>
          <p:cNvPr id="138" name="Google Shape;138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9" name="Google Shape;139;p22"/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8705" y="1355910"/>
            <a:ext cx="12183295" cy="468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Logic: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Decoupled LLM reasoning from financial math to eliminate hallucination.</a:t>
            </a:r>
          </a:p>
          <a:p>
            <a:pPr lvl="0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Dual-DB Architecture: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Neo4j (structured facts) + Postgres/</a:t>
            </a:r>
            <a:r>
              <a:rPr lang="en-IN" b="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pgvector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(narrative context).</a:t>
            </a:r>
          </a:p>
          <a:p>
            <a:pPr lvl="0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Parsing: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Deployed IBM </a:t>
            </a:r>
            <a:r>
              <a:rPr lang="en-IN" b="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Docling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preserve table integrity from complex PDF filings.</a:t>
            </a:r>
          </a:p>
          <a:p>
            <a:pPr lvl="0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Routing: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hybrid_router.py to map user intent to optimal retrieval strategy.</a:t>
            </a:r>
          </a:p>
          <a:p>
            <a:pPr lvl="0"/>
            <a:r>
              <a:rPr lang="en-IN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LangGraph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Orchestration: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stateful workflow to fuse graph nodes + vector chunks into verifiable answers.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800"/>
              <a:buNone/>
            </a:pPr>
            <a:endParaRPr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Financial Intelligence </a:t>
            </a:r>
            <a:r>
              <a:rPr lang="en-GB" sz="3600" b="1" i="0" u="none" strike="noStrike" cap="none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GraphRAG</a:t>
            </a:r>
            <a:r>
              <a:rPr lang="en-GB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Engine</a:t>
            </a:r>
            <a:endParaRPr sz="3600" b="1" i="0" u="none" strike="noStrike" cap="none" dirty="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7" name="Google Shape;147;p23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500</Words>
  <Application>Microsoft Office PowerPoint</Application>
  <PresentationFormat>Widescreen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 S Shah</cp:lastModifiedBy>
  <cp:revision>3</cp:revision>
  <dcterms:modified xsi:type="dcterms:W3CDTF">2026-09-11T10:14:00Z</dcterms:modified>
</cp:coreProperties>
</file>