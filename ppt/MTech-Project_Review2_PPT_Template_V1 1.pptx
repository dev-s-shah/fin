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V P" userId="3c772aa847e401ce" providerId="LiveId" clId="{7AFD3D40-EEC9-431C-8CCD-4F666485470F}"/>
    <pc:docChg chg="modSld">
      <pc:chgData name="Arjun V P" userId="3c772aa847e401ce" providerId="LiveId" clId="{7AFD3D40-EEC9-431C-8CCD-4F666485470F}" dt="2026-09-06T12:44:36.383" v="86" actId="14100"/>
      <pc:docMkLst>
        <pc:docMk/>
      </pc:docMkLst>
      <pc:sldChg chg="modSp mod">
        <pc:chgData name="Arjun V P" userId="3c772aa847e401ce" providerId="LiveId" clId="{7AFD3D40-EEC9-431C-8CCD-4F666485470F}" dt="2026-09-06T12:43:37.027" v="77"/>
        <pc:sldMkLst>
          <pc:docMk/>
          <pc:sldMk cId="3377586287" sldId="2147470487"/>
        </pc:sldMkLst>
        <pc:spChg chg="mod">
          <ac:chgData name="Arjun V P" userId="3c772aa847e401ce" providerId="LiveId" clId="{7AFD3D40-EEC9-431C-8CCD-4F666485470F}" dt="2026-09-06T12:43:37.027" v="77"/>
          <ac:spMkLst>
            <pc:docMk/>
            <pc:sldMk cId="3377586287" sldId="2147470487"/>
            <ac:spMk id="6" creationId="{65221164-7940-3B34-A613-28A74A63E0F7}"/>
          </ac:spMkLst>
        </pc:spChg>
      </pc:sldChg>
      <pc:sldChg chg="modSp mod">
        <pc:chgData name="Arjun V P" userId="3c772aa847e401ce" providerId="LiveId" clId="{7AFD3D40-EEC9-431C-8CCD-4F666485470F}" dt="2026-09-06T12:40:28.914" v="44" actId="20577"/>
        <pc:sldMkLst>
          <pc:docMk/>
          <pc:sldMk cId="3449507583" sldId="2147470489"/>
        </pc:sldMkLst>
        <pc:spChg chg="mod">
          <ac:chgData name="Arjun V P" userId="3c772aa847e401ce" providerId="LiveId" clId="{7AFD3D40-EEC9-431C-8CCD-4F666485470F}" dt="2026-09-06T12:40:28.914" v="44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Arjun V P" userId="3c772aa847e401ce" providerId="LiveId" clId="{7AFD3D40-EEC9-431C-8CCD-4F666485470F}" dt="2026-09-06T12:42:27.511" v="70" actId="14100"/>
        <pc:sldMkLst>
          <pc:docMk/>
          <pc:sldMk cId="2088180620" sldId="2147470492"/>
        </pc:sldMkLst>
        <pc:spChg chg="mod">
          <ac:chgData name="Arjun V P" userId="3c772aa847e401ce" providerId="LiveId" clId="{7AFD3D40-EEC9-431C-8CCD-4F666485470F}" dt="2026-09-06T12:42:27.511" v="70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modSp mod">
        <pc:chgData name="Arjun V P" userId="3c772aa847e401ce" providerId="LiveId" clId="{7AFD3D40-EEC9-431C-8CCD-4F666485470F}" dt="2026-09-06T12:43:20.729" v="76"/>
        <pc:sldMkLst>
          <pc:docMk/>
          <pc:sldMk cId="1739450533" sldId="2147470493"/>
        </pc:sldMkLst>
        <pc:spChg chg="mod">
          <ac:chgData name="Arjun V P" userId="3c772aa847e401ce" providerId="LiveId" clId="{7AFD3D40-EEC9-431C-8CCD-4F666485470F}" dt="2026-09-06T12:43:20.729" v="76"/>
          <ac:spMkLst>
            <pc:docMk/>
            <pc:sldMk cId="1739450533" sldId="2147470493"/>
            <ac:spMk id="4" creationId="{E4452DD5-D934-4955-F39B-2109AC72692F}"/>
          </ac:spMkLst>
        </pc:spChg>
      </pc:sldChg>
      <pc:sldChg chg="modSp mod">
        <pc:chgData name="Arjun V P" userId="3c772aa847e401ce" providerId="LiveId" clId="{7AFD3D40-EEC9-431C-8CCD-4F666485470F}" dt="2026-09-06T12:43:13.926" v="75"/>
        <pc:sldMkLst>
          <pc:docMk/>
          <pc:sldMk cId="2034681921" sldId="2147470494"/>
        </pc:sldMkLst>
        <pc:spChg chg="mod">
          <ac:chgData name="Arjun V P" userId="3c772aa847e401ce" providerId="LiveId" clId="{7AFD3D40-EEC9-431C-8CCD-4F666485470F}" dt="2026-09-06T12:43:13.926" v="75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">
        <pc:chgData name="Arjun V P" userId="3c772aa847e401ce" providerId="LiveId" clId="{7AFD3D40-EEC9-431C-8CCD-4F666485470F}" dt="2026-09-06T12:44:00.027" v="80" actId="14100"/>
        <pc:sldMkLst>
          <pc:docMk/>
          <pc:sldMk cId="679362563" sldId="2147470497"/>
        </pc:sldMkLst>
        <pc:spChg chg="mod">
          <ac:chgData name="Arjun V P" userId="3c772aa847e401ce" providerId="LiveId" clId="{7AFD3D40-EEC9-431C-8CCD-4F666485470F}" dt="2026-09-06T12:44:00.027" v="80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">
        <pc:chgData name="Arjun V P" userId="3c772aa847e401ce" providerId="LiveId" clId="{7AFD3D40-EEC9-431C-8CCD-4F666485470F}" dt="2026-09-06T12:44:13.736" v="82" actId="14100"/>
        <pc:sldMkLst>
          <pc:docMk/>
          <pc:sldMk cId="107944653" sldId="2147470498"/>
        </pc:sldMkLst>
        <pc:spChg chg="mod">
          <ac:chgData name="Arjun V P" userId="3c772aa847e401ce" providerId="LiveId" clId="{7AFD3D40-EEC9-431C-8CCD-4F666485470F}" dt="2026-09-06T12:44:13.736" v="82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">
        <pc:chgData name="Arjun V P" userId="3c772aa847e401ce" providerId="LiveId" clId="{7AFD3D40-EEC9-431C-8CCD-4F666485470F}" dt="2026-09-06T12:44:36.383" v="86" actId="14100"/>
        <pc:sldMkLst>
          <pc:docMk/>
          <pc:sldMk cId="2198371957" sldId="2147470499"/>
        </pc:sldMkLst>
        <pc:spChg chg="mod">
          <ac:chgData name="Arjun V P" userId="3c772aa847e401ce" providerId="LiveId" clId="{7AFD3D40-EEC9-431C-8CCD-4F666485470F}" dt="2026-09-06T12:44:36.383" v="86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">
        <pc:chgData name="Arjun V P" userId="3c772aa847e401ce" providerId="LiveId" clId="{7AFD3D40-EEC9-431C-8CCD-4F666485470F}" dt="2026-09-06T12:44:26.144" v="84" actId="14100"/>
        <pc:sldMkLst>
          <pc:docMk/>
          <pc:sldMk cId="2501109131" sldId="2147470500"/>
        </pc:sldMkLst>
        <pc:spChg chg="mod">
          <ac:chgData name="Arjun V P" userId="3c772aa847e401ce" providerId="LiveId" clId="{7AFD3D40-EEC9-431C-8CCD-4F666485470F}" dt="2026-09-06T12:44:26.144" v="84" actId="14100"/>
          <ac:spMkLst>
            <pc:docMk/>
            <pc:sldMk cId="2501109131" sldId="2147470500"/>
            <ac:spMk id="4" creationId="{8C26B487-77E4-5D5B-7416-E64E3C867A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GraphRAG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for Financial Insights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801956F6-6740-4770-724B-3B6D044EC959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2;p15">
            <a:extLst>
              <a:ext uri="{FF2B5EF4-FFF2-40B4-BE49-F238E27FC236}">
                <a16:creationId xmlns:a16="http://schemas.microsoft.com/office/drawing/2014/main" id="{2FBE2081-97B1-808B-6B99-4D0604E46C38}"/>
              </a:ext>
            </a:extLst>
          </p:cNvPr>
          <p:cNvSpPr txBox="1">
            <a:spLocks/>
          </p:cNvSpPr>
          <p:nvPr/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400"/>
              <a:buFont typeface="Arial" panose="020B0604020202020204" pitchFamily="34" charset="0"/>
              <a:buNone/>
            </a:pPr>
            <a:r>
              <a:rPr lang="en-GB" sz="4400">
                <a:solidFill>
                  <a:schemeClr val="lt1"/>
                </a:solidFill>
              </a:rPr>
              <a:t>M.Tech Program </a:t>
            </a:r>
            <a:endParaRPr lang="en-GB"/>
          </a:p>
          <a:p>
            <a:pPr marL="0" indent="0" algn="ctr">
              <a:buClr>
                <a:schemeClr val="lt1"/>
              </a:buClr>
              <a:buSzPts val="2000"/>
              <a:buFont typeface="Arial" panose="020B0604020202020204" pitchFamily="34" charset="0"/>
              <a:buNone/>
            </a:pPr>
            <a:r>
              <a:rPr lang="en-GB" sz="2000">
                <a:solidFill>
                  <a:schemeClr val="lt1"/>
                </a:solidFill>
              </a:rPr>
              <a:t>Advanced Industry Integrated Programs</a:t>
            </a:r>
            <a:endParaRPr lang="en-GB"/>
          </a:p>
        </p:txBody>
      </p:sp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1653050E-C3F3-98A4-1711-8B741F90090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" name="Google Shape;64;p15">
            <a:extLst>
              <a:ext uri="{FF2B5EF4-FFF2-40B4-BE49-F238E27FC236}">
                <a16:creationId xmlns:a16="http://schemas.microsoft.com/office/drawing/2014/main" id="{97EBFAD6-BA26-F866-475B-BB7A674614AD}"/>
              </a:ext>
            </a:extLst>
          </p:cNvPr>
          <p:cNvSpPr/>
          <p:nvPr/>
        </p:nvSpPr>
        <p:spPr>
          <a:xfrm>
            <a:off x="4125950" y="1177575"/>
            <a:ext cx="3483000" cy="2859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</a:t>
            </a:r>
            <a:r>
              <a:rPr lang="en-US" sz="1200">
                <a:solidFill>
                  <a:srgbClr val="595959"/>
                </a:solidFill>
              </a:rPr>
              <a:t>LTI MindTree</a:t>
            </a:r>
            <a:endParaRPr/>
          </a:p>
        </p:txBody>
      </p:sp>
      <p:sp>
        <p:nvSpPr>
          <p:cNvPr id="11" name="Google Shape;65;p15">
            <a:extLst>
              <a:ext uri="{FF2B5EF4-FFF2-40B4-BE49-F238E27FC236}">
                <a16:creationId xmlns:a16="http://schemas.microsoft.com/office/drawing/2014/main" id="{DFD2952D-FA9A-AA0F-8F2D-801F24C0014E}"/>
              </a:ext>
            </a:extLst>
          </p:cNvPr>
          <p:cNvSpPr txBox="1"/>
          <p:nvPr/>
        </p:nvSpPr>
        <p:spPr>
          <a:xfrm>
            <a:off x="180236" y="1659822"/>
            <a:ext cx="11428200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" name="Google Shape;66;p15">
            <a:extLst>
              <a:ext uri="{FF2B5EF4-FFF2-40B4-BE49-F238E27FC236}">
                <a16:creationId xmlns:a16="http://schemas.microsoft.com/office/drawing/2014/main" id="{9C3DE2D5-9C1D-DEC4-6AF6-84BB5E4AE21E}"/>
              </a:ext>
            </a:extLst>
          </p:cNvPr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                                                        Implementation Partner</a:t>
                      </a:r>
                      <a:r>
                        <a:rPr lang="en-US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</a:t>
                      </a: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Google Shape;67;p15">
            <a:extLst>
              <a:ext uri="{FF2B5EF4-FFF2-40B4-BE49-F238E27FC236}">
                <a16:creationId xmlns:a16="http://schemas.microsoft.com/office/drawing/2014/main" id="{4A3BAA48-C0AD-9E3C-1689-127C8891BF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8;p15" descr="Press Release Distribution India | Business Wire India">
            <a:extLst>
              <a:ext uri="{FF2B5EF4-FFF2-40B4-BE49-F238E27FC236}">
                <a16:creationId xmlns:a16="http://schemas.microsoft.com/office/drawing/2014/main" id="{297E1CEE-508B-383A-9E6D-F63DBF2025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73;p16">
            <a:extLst>
              <a:ext uri="{FF2B5EF4-FFF2-40B4-BE49-F238E27FC236}">
                <a16:creationId xmlns:a16="http://schemas.microsoft.com/office/drawing/2014/main" id="{C22F2EB0-3FEF-5FD4-77F2-FFD377457411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cxnSp>
        <p:nvCxnSpPr>
          <p:cNvPr id="7" name="Google Shape;74;p16">
            <a:extLst>
              <a:ext uri="{FF2B5EF4-FFF2-40B4-BE49-F238E27FC236}">
                <a16:creationId xmlns:a16="http://schemas.microsoft.com/office/drawing/2014/main" id="{EC3A4F95-8388-BDC1-1412-8A702606AD6A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" name="Google Shape;75;p16">
            <a:extLst>
              <a:ext uri="{FF2B5EF4-FFF2-40B4-BE49-F238E27FC236}">
                <a16:creationId xmlns:a16="http://schemas.microsoft.com/office/drawing/2014/main" id="{8081549B-AA23-8984-9BA5-8A40FA068A1E}"/>
              </a:ext>
            </a:extLst>
          </p:cNvPr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</p:txBody>
      </p:sp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BAD62727-4064-55E7-58D2-886F8B33F021}"/>
              </a:ext>
            </a:extLst>
          </p:cNvPr>
          <p:cNvSpPr/>
          <p:nvPr/>
        </p:nvSpPr>
        <p:spPr>
          <a:xfrm rot="10800000">
            <a:off x="220300" y="1424025"/>
            <a:ext cx="6270300" cy="4909800"/>
          </a:xfrm>
          <a:prstGeom prst="round1Rect">
            <a:avLst>
              <a:gd name="adj" fmla="val 34598"/>
            </a:avLst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7;p16">
            <a:extLst>
              <a:ext uri="{FF2B5EF4-FFF2-40B4-BE49-F238E27FC236}">
                <a16:creationId xmlns:a16="http://schemas.microsoft.com/office/drawing/2014/main" id="{DF07508F-2F29-0C56-99A5-3ED571C0FDC5}"/>
              </a:ext>
            </a:extLst>
          </p:cNvPr>
          <p:cNvSpPr txBox="1"/>
          <p:nvPr/>
        </p:nvSpPr>
        <p:spPr>
          <a:xfrm>
            <a:off x="613450" y="1432325"/>
            <a:ext cx="5772900" cy="53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00" b="1" dirty="0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Annual reports =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Tables + Text + Strategy + Risk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information is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distributed across pages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Traditional search finds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2800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 not relationships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8DB5"/>
              </a:buClr>
              <a:buSzPts val="2800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LLMs may generate </a:t>
            </a:r>
            <a:r>
              <a:rPr lang="en-US" sz="2800" b="1" dirty="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unsupported answers</a:t>
            </a:r>
            <a:endParaRPr sz="2800" b="1" dirty="0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22730755-5A37-0C9B-3519-639F8E9559D5}"/>
              </a:ext>
            </a:extLst>
          </p:cNvPr>
          <p:cNvSpPr/>
          <p:nvPr/>
        </p:nvSpPr>
        <p:spPr>
          <a:xfrm>
            <a:off x="6669250" y="1423925"/>
            <a:ext cx="5269500" cy="4909800"/>
          </a:xfrm>
          <a:prstGeom prst="round1Rect">
            <a:avLst>
              <a:gd name="adj" fmla="val 16667"/>
            </a:avLst>
          </a:prstGeom>
          <a:solidFill>
            <a:srgbClr val="E8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AF3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79;p16">
            <a:extLst>
              <a:ext uri="{FF2B5EF4-FFF2-40B4-BE49-F238E27FC236}">
                <a16:creationId xmlns:a16="http://schemas.microsoft.com/office/drawing/2014/main" id="{318C7C01-946A-CB76-DB7C-1F39BC7AABC9}"/>
              </a:ext>
            </a:extLst>
          </p:cNvPr>
          <p:cNvSpPr txBox="1"/>
          <p:nvPr/>
        </p:nvSpPr>
        <p:spPr>
          <a:xfrm>
            <a:off x="6920950" y="1552200"/>
            <a:ext cx="5017800" cy="50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Proposed Idea</a:t>
            </a:r>
            <a:endParaRPr sz="2800" b="1" dirty="0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Financial Fact Extraction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Entity &amp; Relationship Extraction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 dirty="0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sz="2800" b="1" dirty="0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Multi-Hop Graph Retrieval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b="1" dirty="0" err="1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Ollama</a:t>
            </a:r>
            <a:r>
              <a:rPr lang="en-US" sz="2800" b="1" dirty="0">
                <a:solidFill>
                  <a:srgbClr val="168C87"/>
                </a:solidFill>
                <a:latin typeface="Calibri"/>
                <a:ea typeface="Calibri"/>
                <a:cs typeface="Calibri"/>
                <a:sym typeface="Calibri"/>
              </a:rPr>
              <a:t>  or Any API provider</a:t>
            </a:r>
            <a:endParaRPr sz="2800" b="1" dirty="0">
              <a:solidFill>
                <a:srgbClr val="168C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A7A0"/>
              </a:buClr>
              <a:buSzPts val="2800"/>
              <a:buFont typeface="Calibri"/>
              <a:buChar char="●"/>
            </a:pPr>
            <a:r>
              <a:rPr lang="en-US" sz="2800" dirty="0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Source/Page Grounding</a:t>
            </a:r>
            <a:endParaRPr sz="2800" dirty="0"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84;p17">
            <a:extLst>
              <a:ext uri="{FF2B5EF4-FFF2-40B4-BE49-F238E27FC236}">
                <a16:creationId xmlns:a16="http://schemas.microsoft.com/office/drawing/2014/main" id="{23A051C9-E0DB-3AAB-0D57-90619608BEC1}"/>
              </a:ext>
            </a:extLst>
          </p:cNvPr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cxnSp>
        <p:nvCxnSpPr>
          <p:cNvPr id="7" name="Google Shape;85;p17">
            <a:extLst>
              <a:ext uri="{FF2B5EF4-FFF2-40B4-BE49-F238E27FC236}">
                <a16:creationId xmlns:a16="http://schemas.microsoft.com/office/drawing/2014/main" id="{85C3E9EC-C71F-79B8-0DC8-D2EBECDA0575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329CE5CA-E018-AB19-B6C8-F43CA889C7CD}"/>
              </a:ext>
            </a:extLst>
          </p:cNvPr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RAG based Financial Insights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7;p17">
            <a:extLst>
              <a:ext uri="{FF2B5EF4-FFF2-40B4-BE49-F238E27FC236}">
                <a16:creationId xmlns:a16="http://schemas.microsoft.com/office/drawing/2014/main" id="{34D3B912-F26B-5EDF-B489-2BDA91ECF7E6}"/>
              </a:ext>
            </a:extLst>
          </p:cNvPr>
          <p:cNvSpPr/>
          <p:nvPr/>
        </p:nvSpPr>
        <p:spPr>
          <a:xfrm rot="10800000">
            <a:off x="244700" y="1378025"/>
            <a:ext cx="11670900" cy="4953300"/>
          </a:xfrm>
          <a:prstGeom prst="round1Rect">
            <a:avLst>
              <a:gd name="adj" fmla="val 36915"/>
            </a:avLst>
          </a:prstGeom>
          <a:solidFill>
            <a:srgbClr val="F4F7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7">
            <a:extLst>
              <a:ext uri="{FF2B5EF4-FFF2-40B4-BE49-F238E27FC236}">
                <a16:creationId xmlns:a16="http://schemas.microsoft.com/office/drawing/2014/main" id="{7948A540-A1F7-EA8E-0FC9-0D4C1142408F}"/>
              </a:ext>
            </a:extLst>
          </p:cNvPr>
          <p:cNvSpPr txBox="1"/>
          <p:nvPr/>
        </p:nvSpPr>
        <p:spPr>
          <a:xfrm>
            <a:off x="481700" y="1298562"/>
            <a:ext cx="11196900" cy="4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Extract </a:t>
            </a:r>
            <a:r>
              <a:rPr lang="en-US" sz="2800" b="1" dirty="0">
                <a:solidFill>
                  <a:srgbClr val="174A78"/>
                </a:solidFill>
              </a:rPr>
              <a:t>financial facts</a:t>
            </a:r>
            <a:endParaRPr sz="2800" b="1" dirty="0">
              <a:solidFill>
                <a:srgbClr val="174A7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Identify </a:t>
            </a:r>
            <a:r>
              <a:rPr lang="en-US" sz="2800" b="1" dirty="0">
                <a:solidFill>
                  <a:srgbClr val="168DB5"/>
                </a:solidFill>
              </a:rPr>
              <a:t>business entities</a:t>
            </a:r>
            <a:endParaRPr sz="2800" b="1" dirty="0">
              <a:solidFill>
                <a:srgbClr val="168DB5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Discover </a:t>
            </a:r>
            <a:r>
              <a:rPr lang="en-US" sz="2800" b="1" dirty="0">
                <a:solidFill>
                  <a:srgbClr val="159FC1"/>
                </a:solidFill>
              </a:rPr>
              <a:t>semantic relationships</a:t>
            </a:r>
            <a:endParaRPr sz="2800" b="1" dirty="0">
              <a:solidFill>
                <a:srgbClr val="159FC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Build a </a:t>
            </a:r>
            <a:r>
              <a:rPr lang="en-US" sz="2800" b="1" dirty="0">
                <a:solidFill>
                  <a:srgbClr val="19A7A0"/>
                </a:solidFill>
              </a:rPr>
              <a:t>Neo4j financial knowledge graph</a:t>
            </a:r>
            <a:endParaRPr sz="2800" b="1" dirty="0">
              <a:solidFill>
                <a:srgbClr val="19A7A0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Perform </a:t>
            </a:r>
            <a:r>
              <a:rPr lang="en-US" sz="2800" b="1" dirty="0">
                <a:solidFill>
                  <a:srgbClr val="0F8F82"/>
                </a:solidFill>
              </a:rPr>
              <a:t>multi-hop reasoning</a:t>
            </a:r>
            <a:endParaRPr sz="2800" b="1" dirty="0">
              <a:solidFill>
                <a:srgbClr val="0F8F82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Retrieve </a:t>
            </a:r>
            <a:r>
              <a:rPr lang="en-US" sz="2800" b="1" dirty="0">
                <a:solidFill>
                  <a:srgbClr val="35A853"/>
                </a:solidFill>
              </a:rPr>
              <a:t>source/page evidence</a:t>
            </a:r>
            <a:endParaRPr sz="2800" b="1" dirty="0">
              <a:solidFill>
                <a:srgbClr val="35A853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Generate answers using</a:t>
            </a:r>
            <a:r>
              <a:rPr lang="en-US" sz="2800" dirty="0">
                <a:solidFill>
                  <a:srgbClr val="54B948"/>
                </a:solidFill>
              </a:rPr>
              <a:t> </a:t>
            </a:r>
            <a:r>
              <a:rPr lang="en-US" sz="2800" b="1" dirty="0">
                <a:solidFill>
                  <a:srgbClr val="54B948"/>
                </a:solidFill>
              </a:rPr>
              <a:t>local model</a:t>
            </a:r>
            <a:endParaRPr sz="2800" b="1" dirty="0">
              <a:solidFill>
                <a:srgbClr val="54B948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Minimize </a:t>
            </a:r>
            <a:r>
              <a:rPr lang="en-US" sz="2800" b="1" dirty="0">
                <a:solidFill>
                  <a:srgbClr val="8BCF35"/>
                </a:solidFill>
              </a:rPr>
              <a:t>hallucination</a:t>
            </a:r>
            <a:endParaRPr sz="2800" b="1" dirty="0">
              <a:solidFill>
                <a:srgbClr val="8BCF3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Hybrid Retrieval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+ vector retrieval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Knowledge Graph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Connected financial entities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Fact Extraction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Structured financial facts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 Tracking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Source-backed evidence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Multi-Hop Reasoning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traversal insights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Answer Generation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LLM-powered responses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Multi-Year Analysis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Fiscal trend tracking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Deterministic Ingestion –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Zero-LLM SEC processing</a:t>
            </a:r>
          </a:p>
          <a:p>
            <a:pPr lvl="1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– Core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5037667" y="57036"/>
            <a:ext cx="715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2275781" cy="638875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Ingestion Pipeline (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sandbox_engine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EDGAR index → accession discovery → filing download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Zero-LLM parsing → structured tables → Arrow/Parquet checkpoints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Schema validation → </a:t>
            </a:r>
            <a:r>
              <a:rPr lang="en-IN" sz="20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LadybugDB</a:t>
            </a: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bulk load with idempotent updates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Query Routing &amp; Cold-Start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endParaRPr lang="en-IN" sz="26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resolution using ticker, company name, aliases, or symbols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Routes queries as KNOWN, COLD_START, or AMBIGUOUS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Cold-start: fetch → LLM extraction → graph overlay → hybrid retrieval → grounded synthesis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Domain-Agnostic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endParaRPr lang="en-IN" sz="26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PDF → chunking → LLM-guided triple extraction</a:t>
            </a: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Validated graph insertion with idempotent </a:t>
            </a:r>
            <a:r>
              <a:rPr lang="en-IN" sz="20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upserts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lvl="1">
              <a:lnSpc>
                <a:spcPct val="100000"/>
              </a:lnSpc>
            </a:pPr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lookup → graph traversal → evidence assembly → answer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775201" y="57036"/>
            <a:ext cx="741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500+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issuers across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10-K, 10-Q, 8-K, DEF 14A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exhibits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Multi-year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financial corpus with normalized fiscal calendars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12,000+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financial concepts extracted with alias-based deduplication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45,000+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graph relationships validated through integrity checks</a:t>
            </a:r>
          </a:p>
          <a:p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Company identity maintained using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ticker–CIK mappings</a:t>
            </a:r>
          </a:p>
          <a:p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Evidence lineage tracked for every fact with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source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and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10-stage checkpoint/recovery 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pipeline with retry and backoff mechanisms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969933" y="57036"/>
            <a:ext cx="722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905AFF-27DC-3DE3-69C3-E02898D0F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9324"/>
              </p:ext>
            </p:extLst>
          </p:nvPr>
        </p:nvGraphicFramePr>
        <p:xfrm>
          <a:off x="437794" y="1375014"/>
          <a:ext cx="113164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8206">
                  <a:extLst>
                    <a:ext uri="{9D8B030D-6E8A-4147-A177-3AD203B41FA5}">
                      <a16:colId xmlns:a16="http://schemas.microsoft.com/office/drawing/2014/main" val="607047069"/>
                    </a:ext>
                  </a:extLst>
                </a:gridCol>
                <a:gridCol w="5658206">
                  <a:extLst>
                    <a:ext uri="{9D8B030D-6E8A-4147-A177-3AD203B41FA5}">
                      <a16:colId xmlns:a16="http://schemas.microsoft.com/office/drawing/2014/main" val="3709563694"/>
                    </a:ext>
                  </a:extLst>
                </a:gridCol>
              </a:tblGrid>
              <a:tr h="22638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effectLst/>
                          <a:latin typeface="+mn-lt"/>
                        </a:rPr>
                        <a:t>Technology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effectLst/>
                          <a:latin typeface="+mn-lt"/>
                        </a:rPr>
                        <a:t>Technology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38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LadybugDB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Embedded property graph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LadybugDB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Embedded property graph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13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DuckDB / Arrow / Parquet Columnar processing &amp; checkpoints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DuckDB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/ Arrow / Parquet Columnar processing &amp; checkpoints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53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Cypher MERGE Idempotent graph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Cypher MERGE Idempotent graph 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9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NetworkX Cold-start overlay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NetworkX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Cold-start overlay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0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OpenAI / Gemini / NIM LLM extraction &amp;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OpenAI / Gemini / NIM LLM extraction &amp; synthesis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13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FiscalCalendar Engine Fiscal period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FiscalCalendar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Engine Fiscal period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92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SSRF-Protected Client Secure SEC data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SSRF-Protected Client Secure SEC data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2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ConceptRegistry</a:t>
                      </a:r>
                      <a:r>
                        <a:rPr lang="en-IN" sz="2200" b="0" i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Entity resolution &amp; 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IN" sz="2200" b="0" i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ConceptRegistry</a:t>
                      </a:r>
                      <a:r>
                        <a:rPr lang="en-IN" sz="2200" b="0" i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 Entity resolution &amp; deduplication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3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57505"/>
            <a:ext cx="11571243" cy="4142989"/>
          </a:xfrm>
        </p:spPr>
        <p:txBody>
          <a:bodyPr/>
          <a:lstStyle/>
          <a:p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SEC filing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ingestion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deterministic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parsing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Entity resolution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financial concept extraction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implemented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Knowledge graph creation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with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45K+ validated relationships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Arrow/Parquet checkpointing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bulk graph loading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operational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Provenance tracking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citations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retrieval framework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completed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Hybrid </a:t>
            </a:r>
            <a:r>
              <a:rPr lang="en-IN" sz="2600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GraphRAG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pipeline with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cold-start query support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implemented</a:t>
            </a:r>
          </a:p>
          <a:p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UI layer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and </a:t>
            </a:r>
            <a:r>
              <a:rPr lang="en-IN" sz="26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external database integration </a:t>
            </a:r>
            <a:r>
              <a:rPr lang="en-IN" sz="2600" b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currently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Graph RAG based Financial Insights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612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Dev S Shah</cp:lastModifiedBy>
  <cp:revision>14</cp:revision>
  <dcterms:created xsi:type="dcterms:W3CDTF">2024-05-13T10:33:11Z</dcterms:created>
  <dcterms:modified xsi:type="dcterms:W3CDTF">2026-10-06T10:37:33Z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